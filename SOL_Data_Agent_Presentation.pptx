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0C2FF"/>
              </a:gs>
              <a:gs pos="100000">
                <a:srgbClr val="745E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371600" y="3200400"/>
            <a:ext cx="5486400" cy="5486400"/>
          </a:xfrm>
          <a:prstGeom prst="rect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C2FF"/>
                </a:solidFill>
                <a:latin typeface="Segoe UI"/>
              </a:rPr>
              <a:t>⬡ SOL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Segoe UI"/>
              </a:rPr>
              <a:t>SOL Data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FFC8"/>
                </a:solidFill>
                <a:latin typeface="Segoe UI"/>
              </a:rPr>
              <a:t>The AI-Powered Autonomous Data Cleaning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520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  <a:latin typeface="Segoe UI"/>
              </a:rPr>
              <a:t>Transforming raw, chaotic datasets into production-ready intelligence — in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188720"/>
            <a:ext cx="3108960" cy="1371600"/>
          </a:xfrm>
          <a:prstGeom prst="rect">
            <a:avLst/>
          </a:prstGeom>
          <a:solidFill>
            <a:srgbClr val="0D1A2E"/>
          </a:solidFill>
          <a:ln w="12700">
            <a:solidFill>
              <a:srgbClr val="74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23444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2FF"/>
                </a:solidFill>
                <a:latin typeface="Segoe UI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2344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egoe UI"/>
              </a:rPr>
              <a:t>of project time
spent on data prep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2834640"/>
            <a:ext cx="3108960" cy="1371600"/>
          </a:xfrm>
          <a:prstGeom prst="rect">
            <a:avLst/>
          </a:prstGeom>
          <a:solidFill>
            <a:srgbClr val="0D1A2E"/>
          </a:solidFill>
          <a:ln w="12700">
            <a:solidFill>
              <a:srgbClr val="74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88036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2FF"/>
                </a:solidFill>
                <a:latin typeface="Segoe UI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8803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egoe UI"/>
              </a:rPr>
              <a:t>Powered Strategist
4-Phase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4480560"/>
            <a:ext cx="3108960" cy="1371600"/>
          </a:xfrm>
          <a:prstGeom prst="rect">
            <a:avLst/>
          </a:prstGeom>
          <a:solidFill>
            <a:srgbClr val="0D1A2E"/>
          </a:solidFill>
          <a:ln w="12700">
            <a:solidFill>
              <a:srgbClr val="74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452628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2FF"/>
                </a:solidFill>
                <a:latin typeface="Segoe UI"/>
              </a:rPr>
              <a:t>7+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45262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egoe UI"/>
              </a:rPr>
              <a:t>File Formats
Supported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745EFF"/>
              </a:gs>
              <a:gs pos="100000">
                <a:srgbClr val="00C2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C4DE"/>
                </a:solidFill>
                <a:latin typeface="Segoe UI"/>
              </a:rPr>
              <a:t>01 / 08</a:t>
            </a:r>
          </a:p>
        </p:txBody>
      </p:sp>
    </p:spTree>
    <p:timing>
      <p:tnLst>
        <p:par>
          <p:cTn id="1" dur="indefinite" restart="whenNotActive" nodeType="tmRoot">
            <p:childTnLst>
              <p:par>
                <p:cTn id="2" fill="hold" nodeType="body">
                  <p:childTnLst>
                    <p:par>
                      <p:cTn id="3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10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ade" subtype="">
                                        <p:cBhvr>
                                          <p:cTn id="6" dur="600" fill="hold"/>
                                          <p:tgtEl>
                                            <p:spTgt spid="4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presetID="2" presetClass="entr" presetSubtype="0" fill="hold" grpId="0" nodeType="clickEffect">
                        <p:stCondLst>
                          <p:cond delay="30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9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0" dur="700" fill="hold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presetID="2" presetClass="entr" presetSubtype="0" fill="hold" grpId="0" nodeType="clickEffect">
                        <p:stCondLst>
                          <p:cond delay="70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3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4" dur="600" fill="hold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presetID="10" presetClass="entr" presetSubtype="0" fill="hold" grpId="0" nodeType="clickEffect">
                        <p:stCondLst>
                          <p:cond delay="110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7" presetID="10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ade" subtype="">
                                        <p:cBhvr>
                                          <p:cTn id="18" dur="500" fill="hold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</p:par>
            </p:childTnLst>
          </p:cTn>
        </p:par>
      </p:tnLst>
    </p:timing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FF6B6B"/>
              </a:gs>
              <a:gs pos="100000">
                <a:srgbClr val="745E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Data Scientists Waste
80% of Their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377440"/>
            <a:ext cx="11430000" cy="822960"/>
          </a:xfrm>
          <a:prstGeom prst="rect">
            <a:avLst/>
          </a:prstGeom>
          <a:solidFill>
            <a:srgbClr val="0D1A2E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4231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5059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  <a:latin typeface="Segoe UI"/>
              </a:rPr>
              <a:t>Dirty, incomplete and inconsistent datasets delay every project.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37560"/>
            <a:ext cx="11430000" cy="822960"/>
          </a:xfrm>
          <a:prstGeom prst="rect">
            <a:avLst/>
          </a:prstGeom>
          <a:solidFill>
            <a:srgbClr val="0D1A2E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3832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1071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  <a:latin typeface="Segoe UI"/>
              </a:rPr>
              <a:t>Manual cleaning scripts are fragile, repetitive and error-prone.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97680"/>
            <a:ext cx="11430000" cy="822960"/>
          </a:xfrm>
          <a:prstGeom prst="rect">
            <a:avLst/>
          </a:prstGeom>
          <a:solidFill>
            <a:srgbClr val="0D1A2E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434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7083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  <a:latin typeface="Segoe UI"/>
              </a:rPr>
              <a:t>Different file formats and SQL engines require bespoke solutions.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257800"/>
            <a:ext cx="11430000" cy="822960"/>
          </a:xfrm>
          <a:prstGeom prst="rect">
            <a:avLst/>
          </a:prstGeom>
          <a:solidFill>
            <a:srgbClr val="0D1A2E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3035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3095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  <a:latin typeface="Segoe UI"/>
              </a:rPr>
              <a:t>Human bias in data manipulation leads to silent, costly errors.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745EFF"/>
              </a:gs>
              <a:gs pos="100000">
                <a:srgbClr val="00C2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C4DE"/>
                </a:solidFill>
                <a:latin typeface="Segoe UI"/>
              </a:rPr>
              <a:t>02 / 08</a:t>
            </a:r>
          </a:p>
        </p:txBody>
      </p:sp>
    </p:spTree>
    <p:timing>
      <p:tnLst>
        <p:par>
          <p:cTn id="1" dur="indefinite" restart="whenNotActive" nodeType="tmRoot">
            <p:childTnLst>
              <p:par>
                <p:cTn id="2" fill="hold" nodeType="body">
                  <p:childTnLst>
                    <p:par>
                      <p:cTn id="3" presetID="2" presetClass="entr" presetSubtype="0" fill="hold" grpId="0" nodeType="clickEffect">
                        <p:stCondLst>
                          <p:cond delay="30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6" dur="400" fill="hold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presetID="10" presetClass="entr" presetSubtype="0" fill="hold" grpId="0" nodeType="clickEffect">
                        <p:stCondLst>
                          <p:cond delay="60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9" presetID="10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ade" subtype="">
                                        <p:cBhvr>
                                          <p:cTn id="10" dur="300" fill="hold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presetID="2" presetClass="entr" presetSubtype="0" fill="hold" grpId="0" nodeType="clickEffect">
                        <p:stCondLst>
                          <p:cond delay="50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3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4" dur="400" fill="hold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presetID="10" presetClass="entr" presetSubtype="0" fill="hold" grpId="0" nodeType="clickEffect">
                        <p:stCondLst>
                          <p:cond delay="80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7" presetID="10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ade" subtype="">
                                        <p:cBhvr>
                                          <p:cTn id="18" dur="300" fill="hold"/>
                                          <p:tgtEl>
                                            <p:spTgt spid="13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" presetID="2" presetClass="entr" presetSubtype="0" fill="hold" grpId="0" nodeType="clickEffect">
                        <p:stCondLst>
                          <p:cond delay="700"/>
                        </p:stCondLst>
                        <p:childTnLst>
                          <p:par>
                            <p:cTn id="20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1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22" dur="400" fill="hold"/>
                                          <p:tgtEl>
                                            <p:spTgt spid="1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" presetID="10" presetClass="entr" presetSubtype="0" fill="hold" grpId="0" nodeType="clickEffect">
                        <p:stCondLst>
                          <p:cond delay="1000"/>
                        </p:stCondLst>
                        <p:childTnLst>
                          <p:par>
                            <p:cTn id="2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5" presetID="10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ade" subtype="">
                                        <p:cBhvr>
                                          <p:cTn id="26" dur="300" fill="hold"/>
                                          <p:tgtEl>
                                            <p:spTgt spid="2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" presetID="2" presetClass="entr" presetSubtype="0" fill="hold" grpId="0" nodeType="clickEffect">
                        <p:stCondLst>
                          <p:cond delay="900"/>
                        </p:stCondLst>
                        <p:childTnLst>
                          <p:par>
                            <p:cTn id="2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9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30" dur="400" fill="hold"/>
                                          <p:tgtEl>
                                            <p:spTgt spid="2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" presetID="10" presetClass="entr" presetSubtype="0" fill="hold" grpId="0" nodeType="clickEffect">
                        <p:stCondLst>
                          <p:cond delay="1200"/>
                        </p:stCondLst>
                        <p:childTnLst>
                          <p:par>
                            <p:cTn id="32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33" presetID="10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ade" subtype="">
                                        <p:cBhvr>
                                          <p:cTn id="34" dur="300" fill="hold"/>
                                          <p:tgtEl>
                                            <p:spTgt spid="2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par>
                            <p:cTn id="3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37" presetID="10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ade" subtype="">
                                        <p:cBhvr>
                                          <p:cTn id="38" dur="400" fill="hold"/>
                                          <p:tgtEl>
                                            <p:spTgt spid="3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9" presetID="2" presetClass="entr" presetSubtype="0" fill="hold" grpId="0" nodeType="clickEffect">
                        <p:stCondLst>
                          <p:cond delay="200"/>
                        </p:stCondLst>
                        <p:childTnLst>
                          <p:par>
                            <p:cTn id="40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41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42" dur="600" fill="hold"/>
                                          <p:tgtEl>
                                            <p:spTgt spid="4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</p:par>
            </p:childTnLst>
          </p:cTn>
        </p:par>
      </p:tnLst>
    </p:timing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0C2FF"/>
              </a:gs>
              <a:gs pos="100000">
                <a:srgbClr val="00FFC8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C8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Segoe UI"/>
              </a:rPr>
              <a:t>Meet SOL Data 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0C4DE"/>
                </a:solidFill>
                <a:latin typeface="Segoe UI"/>
              </a:rPr>
              <a:t>An autonomous, AI-powered data cleaning platform that transforms messy raw data
into production-ready intelligence — without writing a single line of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743200"/>
            <a:ext cx="2743200" cy="3566160"/>
          </a:xfrm>
          <a:prstGeom prst="rect">
            <a:avLst/>
          </a:prstGeom>
          <a:solidFill>
            <a:srgbClr val="0D1A2E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788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2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3246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384048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Scan metadata,
classify columns,
detect anomalies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4023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2FF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43200"/>
            <a:ext cx="2743200" cy="3566160"/>
          </a:xfrm>
          <a:prstGeom prst="rect">
            <a:avLst/>
          </a:prstGeom>
          <a:solidFill>
            <a:srgbClr val="0D1A2E"/>
          </a:solidFill>
          <a:ln w="19050">
            <a:solidFill>
              <a:srgbClr val="74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788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45EFF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246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STRATEGIZE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84048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AI (LLM) crafts
an optimal cleaning
plan per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4023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2FF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743200"/>
            <a:ext cx="2743200" cy="3566160"/>
          </a:xfrm>
          <a:prstGeom prst="rect">
            <a:avLst/>
          </a:prstGeom>
          <a:solidFill>
            <a:srgbClr val="0D1A2E"/>
          </a:solidFill>
          <a:ln w="1905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788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C8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246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EXECUTE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84048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Clean nulls, types,
formats, outliers &amp;
duplicates at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4023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2FF"/>
                </a:solidFill>
                <a:latin typeface="Segoe U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743200"/>
            <a:ext cx="2743200" cy="3566160"/>
          </a:xfrm>
          <a:prstGeom prst="rect">
            <a:avLst/>
          </a:prstGeom>
          <a:solidFill>
            <a:srgbClr val="0D1A2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2788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3246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384048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Side-by-side preview
+ instant export or
direct DB sync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745EFF"/>
              </a:gs>
              <a:gs pos="100000">
                <a:srgbClr val="00C2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C4DE"/>
                </a:solidFill>
                <a:latin typeface="Segoe UI"/>
              </a:rPr>
              <a:t>03 / 08</a:t>
            </a:r>
          </a:p>
        </p:txBody>
      </p:sp>
    </p:spTree>
    <p:timing>
      <p:tnLst>
        <p:par>
          <p:cTn id="1" dur="indefinite" restart="whenNotActive" nodeType="tmRoot">
            <p:childTnLst>
              <p:par>
                <p:cTn id="2" fill="hold" nodeType="body">
                  <p:childTnLst>
                    <p:par>
                      <p:cTn id="3" presetID="2" presetClass="entr" presetSubtype="0" fill="hold" grpId="0" nodeType="clickEffect">
                        <p:stCondLst>
                          <p:cond delay="40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6" dur="500" fill="hold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presetID="2" presetClass="entr" presetSubtype="0" fill="hold" grpId="0" nodeType="clickEffect">
                        <p:stCondLst>
                          <p:cond delay="65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9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0" dur="500" fill="hold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presetID="2" presetClass="entr" presetSubtype="0" fill="hold" grpId="0" nodeType="clickEffect">
                        <p:stCondLst>
                          <p:cond delay="90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3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4" dur="500" fill="hold"/>
                                          <p:tgtEl>
                                            <p:spTgt spid="1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presetID="2" presetClass="entr" presetSubtype="0" fill="hold" grpId="0" nodeType="clickEffect">
                        <p:stCondLst>
                          <p:cond delay="115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7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8" dur="500" fill="hold"/>
                                          <p:tgtEl>
                                            <p:spTgt spid="2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" presetID="10" presetClass="entr" presetSubtype="0" fill="hold" grpId="0" nodeType="clickEffect">
                        <p:stCondLst>
                          <p:cond delay="0"/>
                        </p:stCondLst>
                        <p:childTnLst>
                          <p:par>
                            <p:cTn id="20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1" presetID="10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ade" subtype="">
                                        <p:cBhvr>
                                          <p:cTn id="22" dur="400" fill="hold"/>
                                          <p:tgtEl>
                                            <p:spTgt spid="3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" presetID="2" presetClass="entr" presetSubtype="0" fill="hold" grpId="0" nodeType="clickEffect">
                        <p:stCondLst>
                          <p:cond delay="200"/>
                        </p:stCondLst>
                        <p:childTnLst>
                          <p:par>
                            <p:cTn id="2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5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26" dur="600" fill="hold"/>
                                          <p:tgtEl>
                                            <p:spTgt spid="4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" presetID="10" presetClass="entr" presetSubtype="0" fill="hold" grpId="0" nodeType="clickEffect">
                        <p:stCondLst>
                          <p:cond delay="600"/>
                        </p:stCondLst>
                        <p:childTnLst>
                          <p:par>
                            <p:cTn id="2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9" presetID="10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ade" subtype="">
                                        <p:cBhvr>
                                          <p:cTn id="30" dur="500" fill="hold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</p:par>
            </p:childTnLst>
          </p:cTn>
        </p:par>
      </p:tnLst>
    </p:timing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745EFF"/>
              </a:gs>
              <a:gs pos="100000">
                <a:srgbClr val="00C2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45EFF"/>
                </a:solidFill>
                <a:latin typeface="Segoe UI"/>
              </a:rP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Built for Real-World Data Chaos.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54480"/>
            <a:ext cx="5577840" cy="1508760"/>
          </a:xfrm>
          <a:prstGeom prst="rect">
            <a:avLst/>
          </a:prstGeom>
          <a:solidFill>
            <a:srgbClr val="0D1A2E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Segoe UI"/>
              </a:rPr>
              <a:t>🗂  Universal Data Loader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Natively handles CSV, Excel, JSON, XML,
Parquet, Feather, HDF5, ORC — automatically.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200400"/>
            <a:ext cx="5577840" cy="1508760"/>
          </a:xfrm>
          <a:prstGeom prst="rect">
            <a:avLst/>
          </a:prstGeom>
          <a:solidFill>
            <a:srgbClr val="0D1A2E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Segoe UI"/>
              </a:rPr>
              <a:t>🤖  AI-Powered Strategist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033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LLM (Llama-3) reads data context and crafts
a smart Alpha/Beta/Gamma cleaning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846320"/>
            <a:ext cx="5577840" cy="1508760"/>
          </a:xfrm>
          <a:prstGeom prst="rect">
            <a:avLst/>
          </a:prstGeom>
          <a:solidFill>
            <a:srgbClr val="0D1A2E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Segoe UI"/>
              </a:rPr>
              <a:t>🎯  User-Defined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492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Write your cleaning goal in plain English.
The AI adapts its entire strategy accordingly.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554480"/>
            <a:ext cx="5577840" cy="1508760"/>
          </a:xfrm>
          <a:prstGeom prst="rect">
            <a:avLst/>
          </a:prstGeom>
          <a:solidFill>
            <a:srgbClr val="0D1A2E"/>
          </a:solidFill>
          <a:ln w="12700">
            <a:solidFill>
              <a:srgbClr val="74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002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45EFF"/>
                </a:solidFill>
                <a:latin typeface="Segoe UI"/>
              </a:rPr>
              <a:t>🔍  Dynamic Strategy Preview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57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Inspect every cleaning plan (with JSON schema)
before execution — full transparency.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200400"/>
            <a:ext cx="5577840" cy="1508760"/>
          </a:xfrm>
          <a:prstGeom prst="rect">
            <a:avLst/>
          </a:prstGeom>
          <a:solidFill>
            <a:srgbClr val="0D1A2E"/>
          </a:solidFill>
          <a:ln w="12700">
            <a:solidFill>
              <a:srgbClr val="74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2461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45EFF"/>
                </a:solidFill>
                <a:latin typeface="Segoe UI"/>
              </a:rPr>
              <a:t>📊  Smart Export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7033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Outputs cleaned data in the exact original
format &amp; extension — zero friction.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846320"/>
            <a:ext cx="5577840" cy="1508760"/>
          </a:xfrm>
          <a:prstGeom prst="rect">
            <a:avLst/>
          </a:prstGeom>
          <a:solidFill>
            <a:srgbClr val="0D1A2E"/>
          </a:solidFill>
          <a:ln w="12700">
            <a:solidFill>
              <a:srgbClr val="74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8920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45EFF"/>
                </a:solidFill>
                <a:latin typeface="Segoe UI"/>
              </a:rPr>
              <a:t>🔗  Direct SQL Connectors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3492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Read, clean and sync data directly
in SQLite, MySQL, or PostgreSQL databases.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745EFF"/>
              </a:gs>
              <a:gs pos="100000">
                <a:srgbClr val="00C2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C4DE"/>
                </a:solidFill>
                <a:latin typeface="Segoe UI"/>
              </a:rPr>
              <a:t>04 / 08</a:t>
            </a:r>
          </a:p>
        </p:txBody>
      </p:sp>
    </p:spTree>
    <p:timing>
      <p:tnLst>
        <p:par>
          <p:cTn id="1" dur="indefinite" restart="whenNotActive" nodeType="tmRoot">
            <p:childTnLst>
              <p:par>
                <p:cTn id="2" fill="hold" nodeType="body">
                  <p:childTnLst>
                    <p:par>
                      <p:cTn id="3" presetID="2" presetClass="entr" presetSubtype="0" fill="hold" grpId="0" nodeType="clickEffect">
                        <p:stCondLst>
                          <p:cond delay="30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6" dur="450" fill="hold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presetID="2" presetClass="entr" presetSubtype="0" fill="hold" grpId="0" nodeType="clickEffect">
                        <p:stCondLst>
                          <p:cond delay="50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9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0" dur="450" fill="hold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presetID="2" presetClass="entr" presetSubtype="0" fill="hold" grpId="0" nodeType="clickEffect">
                        <p:stCondLst>
                          <p:cond delay="70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3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4" dur="450" fill="hold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presetID="2" presetClass="entr" presetSubtype="0" fill="hold" grpId="0" nodeType="clickEffect">
                        <p:stCondLst>
                          <p:cond delay="50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7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8" dur="450" fill="hold"/>
                                          <p:tgtEl>
                                            <p:spTgt spid="1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" presetID="2" presetClass="entr" presetSubtype="0" fill="hold" grpId="0" nodeType="clickEffect">
                        <p:stCondLst>
                          <p:cond delay="700"/>
                        </p:stCondLst>
                        <p:childTnLst>
                          <p:par>
                            <p:cTn id="20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1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22" dur="450" fill="hold"/>
                                          <p:tgtEl>
                                            <p:spTgt spid="1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" presetID="2" presetClass="entr" presetSubtype="0" fill="hold" grpId="0" nodeType="clickEffect">
                        <p:stCondLst>
                          <p:cond delay="900"/>
                        </p:stCondLst>
                        <p:childTnLst>
                          <p:par>
                            <p:cTn id="2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5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26" dur="450" fill="hold"/>
                                          <p:tgtEl>
                                            <p:spTgt spid="23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</p:par>
            </p:childTnLst>
          </p:cTn>
        </p:par>
      </p:tnLst>
    </p:timing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0FFC8"/>
              </a:gs>
              <a:gs pos="100000">
                <a:srgbClr val="745E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C8"/>
                </a:solidFill>
                <a:latin typeface="Segoe UI"/>
              </a:rPr>
              <a:t>INTEGRATED SUBSYSTEMS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A Complete Data Intelligence Ecosystem.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3474720" cy="2194560"/>
          </a:xfrm>
          <a:prstGeom prst="rect">
            <a:avLst/>
          </a:prstGeom>
          <a:solidFill>
            <a:srgbClr val="0D1A2E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691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FFC8"/>
                </a:solidFill>
                <a:latin typeface="Segoe UI"/>
              </a:rPr>
              <a:t>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1691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Semantic Binary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28600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egoe UI"/>
              </a:rPr>
              <a:t>Auto-detects boolean columns (Yes/No, Approved/Rejected)
and maps them to 0/1 for ML readiness.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600200"/>
            <a:ext cx="3474720" cy="2194560"/>
          </a:xfrm>
          <a:prstGeom prst="rect">
            <a:avLst/>
          </a:prstGeom>
          <a:solidFill>
            <a:srgbClr val="0D1A2E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91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FFC8"/>
                </a:solidFill>
                <a:latin typeface="Segoe UI"/>
              </a:rPr>
              <a:t>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91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OCR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egoe UI"/>
              </a:rPr>
              <a:t>AI-powered text extraction from images and scanned
documents — converts to clean DataFrames.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600200"/>
            <a:ext cx="3474720" cy="2194560"/>
          </a:xfrm>
          <a:prstGeom prst="rect">
            <a:avLst/>
          </a:prstGeom>
          <a:solidFill>
            <a:srgbClr val="0D1A2E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691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FFC8"/>
                </a:solidFill>
                <a:latin typeface="Segoe U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691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SOL 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28600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egoe UI"/>
              </a:rPr>
              <a:t>An advanced data collection system (Google Forms alternative)
that prevents dirty data at the source.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69080"/>
            <a:ext cx="3474720" cy="2194560"/>
          </a:xfrm>
          <a:prstGeom prst="rect">
            <a:avLst/>
          </a:prstGeom>
          <a:solidFill>
            <a:srgbClr val="0D1A2E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1605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FFC8"/>
                </a:solidFill>
                <a:latin typeface="Segoe UI"/>
              </a:rPr>
              <a:t>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4160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AI Lab / Data Corruptor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75488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egoe UI"/>
              </a:rPr>
              <a:t>A sandbox environment to simulate data corruption
and stress-test cleaning model performance.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4069080"/>
            <a:ext cx="3474720" cy="2194560"/>
          </a:xfrm>
          <a:prstGeom prst="rect">
            <a:avLst/>
          </a:prstGeom>
          <a:solidFill>
            <a:srgbClr val="0D1A2E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1605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FFC8"/>
                </a:solidFill>
                <a:latin typeface="Segoe UI"/>
              </a:rPr>
              <a:t>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160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Audit Report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75488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egoe UI"/>
              </a:rPr>
              <a:t>Full transparency reports of every AI intervention,
change log, and confidence score per column.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069080"/>
            <a:ext cx="3474720" cy="2194560"/>
          </a:xfrm>
          <a:prstGeom prst="rect">
            <a:avLst/>
          </a:prstGeom>
          <a:solidFill>
            <a:srgbClr val="0D1A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41605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D700"/>
                </a:solidFill>
                <a:latin typeface="Segoe UI"/>
              </a:rPr>
              <a:t>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160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ML Model Advisor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75488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egoe UI"/>
              </a:rPr>
              <a:t>Analyzes your cleaned dataset and recommends
the optimal ML model architecture
for your problem type.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745EFF"/>
              </a:gs>
              <a:gs pos="100000">
                <a:srgbClr val="00C2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C4DE"/>
                </a:solidFill>
                <a:latin typeface="Segoe UI"/>
              </a:rPr>
              <a:t>05 / 08</a:t>
            </a:r>
          </a:p>
        </p:txBody>
      </p:sp>
    </p:spTree>
    <p:timing>
      <p:tnLst>
        <p:par>
          <p:cTn id="1" dur="indefinite" restart="whenNotActive" nodeType="tmRoot">
            <p:childTnLst>
              <p:par>
                <p:cTn id="2" fill="hold" nodeType="body">
                  <p:childTnLst>
                    <p:par>
                      <p:cTn id="3" presetID="2" presetClass="entr" presetSubtype="0" fill="hold" grpId="0" nodeType="clickEffect">
                        <p:stCondLst>
                          <p:cond delay="30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6" dur="500" fill="hold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presetID="2" presetClass="entr" presetSubtype="0" fill="hold" grpId="0" nodeType="clickEffect">
                        <p:stCondLst>
                          <p:cond delay="50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9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0" dur="500" fill="hold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presetID="2" presetClass="entr" presetSubtype="0" fill="hold" grpId="0" nodeType="clickEffect">
                        <p:stCondLst>
                          <p:cond delay="70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3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4" dur="500" fill="hold"/>
                                          <p:tgtEl>
                                            <p:spTgt spid="13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presetID="2" presetClass="entr" presetSubtype="0" fill="hold" grpId="0" nodeType="clickEffect">
                        <p:stCondLst>
                          <p:cond delay="90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7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8" dur="500" fill="hold"/>
                                          <p:tgtEl>
                                            <p:spTgt spid="1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" presetID="2" presetClass="entr" presetSubtype="0" fill="hold" grpId="0" nodeType="clickEffect">
                        <p:stCondLst>
                          <p:cond delay="1100"/>
                        </p:stCondLst>
                        <p:childTnLst>
                          <p:par>
                            <p:cTn id="20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1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22" dur="500" fill="hold"/>
                                          <p:tgtEl>
                                            <p:spTgt spid="2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" presetID="2" presetClass="entr" presetSubtype="0" fill="hold" grpId="0" nodeType="clickEffect">
                        <p:stCondLst>
                          <p:cond delay="1000"/>
                        </p:stCondLst>
                        <p:childTnLst>
                          <p:par>
                            <p:cTn id="2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5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26" dur="500" fill="hold"/>
                                          <p:tgtEl>
                                            <p:spTgt spid="2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</p:par>
            </p:childTnLst>
          </p:cTn>
        </p:par>
      </p:tnLst>
    </p:timing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0C2FF"/>
              </a:gs>
              <a:gs pos="100000">
                <a:srgbClr val="745E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  <a:latin typeface="Segoe U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Engineered for Performance &amp; Scalability.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5577840" cy="2468880"/>
          </a:xfrm>
          <a:prstGeom prst="rect">
            <a:avLst/>
          </a:prstGeom>
          <a:solidFill>
            <a:srgbClr val="0D1A2E"/>
          </a:solidFill>
          <a:ln w="19050">
            <a:solidFill>
              <a:srgbClr val="74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45EFF"/>
                </a:solidFill>
                <a:latin typeface="Segoe UI"/>
              </a:rPr>
              <a:t>🧠 AI &amp;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Groq API (Llama-3 8B)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243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LangChain / Custom LLM Chains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540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Dual-Confidence Strategy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83863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Semantic Column Classifier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577840" cy="2468880"/>
          </a:xfrm>
          <a:prstGeom prst="rect">
            <a:avLst/>
          </a:prstGeom>
          <a:solidFill>
            <a:srgbClr val="0D1A2E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FF"/>
                </a:solidFill>
                <a:latin typeface="Segoe UI"/>
              </a:rPr>
              <a:t>⚙ Backend &amp;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FastAPI (REST API Layer)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243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Python 3.10+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540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Pandas / NumPy / SciPy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483863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SQLAlchemy + PyMySQL + Psycopg2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43400"/>
            <a:ext cx="5577840" cy="2468880"/>
          </a:xfrm>
          <a:prstGeom prst="rect">
            <a:avLst/>
          </a:prstGeom>
          <a:solidFill>
            <a:srgbClr val="0D1A2E"/>
          </a:solidFill>
          <a:ln w="1905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C8"/>
                </a:solidFill>
                <a:latin typeface="Segoe UI"/>
              </a:rPr>
              <a:t>🎨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37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Jinja2 HTML Templates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675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Custom Sci-Fi Glassmorphism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7972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Interactive Preview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22706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Real-time Progress Streaming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343400"/>
            <a:ext cx="5577840" cy="2468880"/>
          </a:xfrm>
          <a:prstGeom prst="rect">
            <a:avLst/>
          </a:prstGeom>
          <a:solidFill>
            <a:srgbClr val="0D1A2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Segoe UI"/>
              </a:rPr>
              <a:t>📦 Data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937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Universal Loader (7+ formats)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3675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SQLite / MySQL / PostgreSQL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7972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Parquet / Feather / HDF5 / ORC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622706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• Dynamic Extension Persistence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745EFF"/>
              </a:gs>
              <a:gs pos="100000">
                <a:srgbClr val="00C2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C4DE"/>
                </a:solidFill>
                <a:latin typeface="Segoe UI"/>
              </a:rPr>
              <a:t>06 / 08</a:t>
            </a:r>
          </a:p>
        </p:txBody>
      </p:sp>
    </p:spTree>
    <p:timing>
      <p:tnLst>
        <p:par>
          <p:cTn id="1" dur="indefinite" restart="whenNotActive" nodeType="tmRoot">
            <p:childTnLst>
              <p:par>
                <p:cTn id="2" fill="hold" nodeType="body">
                  <p:childTnLst>
                    <p:par>
                      <p:cTn id="3" presetID="2" presetClass="entr" presetSubtype="0" fill="hold" grpId="0" nodeType="clickEffect">
                        <p:stCondLst>
                          <p:cond delay="30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6" dur="500" fill="hold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presetID="2" presetClass="entr" presetSubtype="0" fill="hold" grpId="0" nodeType="clickEffect">
                        <p:stCondLst>
                          <p:cond delay="60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9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0" dur="500" fill="hold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presetID="2" presetClass="entr" presetSubtype="0" fill="hold" grpId="0" nodeType="clickEffect">
                        <p:stCondLst>
                          <p:cond delay="90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3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4" dur="500" fill="hold"/>
                                          <p:tgtEl>
                                            <p:spTgt spid="1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presetID="2" presetClass="entr" presetSubtype="0" fill="hold" grpId="0" nodeType="clickEffect">
                        <p:stCondLst>
                          <p:cond delay="120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7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8" dur="500" fill="hold"/>
                                          <p:tgtEl>
                                            <p:spTgt spid="23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</p:par>
            </p:childTnLst>
          </p:cTn>
        </p:par>
      </p:tnLst>
    </p:timing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FFD700"/>
              </a:gs>
              <a:gs pos="100000">
                <a:srgbClr val="745E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Four Powerful Revenue Streams.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5577840" cy="2240280"/>
          </a:xfrm>
          <a:prstGeom prst="rect">
            <a:avLst/>
          </a:prstGeom>
          <a:solidFill>
            <a:srgbClr val="0D1A2E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  <a:latin typeface="Segoe UI"/>
              </a:rPr>
              <a:t>💻  SaaS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Free: CSVs up to 5MB
Pro: $25/mo — all formats + 1 SQL DB
Enterprise: $500/mo — unlimited sync + isolated hosting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00200"/>
            <a:ext cx="5577840" cy="2240280"/>
          </a:xfrm>
          <a:prstGeom prst="rect">
            <a:avLst/>
          </a:prstGeom>
          <a:solidFill>
            <a:srgbClr val="0D1A2E"/>
          </a:solidFill>
          <a:ln w="19050">
            <a:solidFill>
              <a:srgbClr val="74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45EFF"/>
                </a:solidFill>
                <a:latin typeface="Segoe UI"/>
              </a:rPr>
              <a:t>🏢  Enterprise Licenses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4028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On-premise installation for enterprises
with strict data privacy requirements.
Priced per seat · no data leaves their servers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023360"/>
            <a:ext cx="5577840" cy="2240280"/>
          </a:xfrm>
          <a:prstGeom prst="rect">
            <a:avLst/>
          </a:prstGeom>
          <a:solidFill>
            <a:srgbClr val="0D1A2E"/>
          </a:solidFill>
          <a:ln w="1905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114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C8"/>
                </a:solidFill>
                <a:latin typeface="Segoe UI"/>
              </a:rPr>
              <a:t>⚡  Supercharged Freelancing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634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Complete 5-day data cleaning contracts
in minutes using SOL Agent.
Drastic productivity multiplier on Upwork/Fiverr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4023360"/>
            <a:ext cx="5577840" cy="2240280"/>
          </a:xfrm>
          <a:prstGeom prst="rect">
            <a:avLst/>
          </a:prstGeom>
          <a:solidFill>
            <a:srgbClr val="0D1A2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114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🔌  API-as-a-Service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6634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Expose cleaning logic as a REST API.
Charge per request / token consumed.
Plug into any third-party system seamlessly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745EFF"/>
              </a:gs>
              <a:gs pos="100000">
                <a:srgbClr val="00C2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C4DE"/>
                </a:solidFill>
                <a:latin typeface="Segoe UI"/>
              </a:rPr>
              <a:t>07 / 08</a:t>
            </a:r>
          </a:p>
        </p:txBody>
      </p:sp>
    </p:spTree>
    <p:timing>
      <p:tnLst>
        <p:par>
          <p:cTn id="1" dur="indefinite" restart="whenNotActive" nodeType="tmRoot">
            <p:childTnLst>
              <p:par>
                <p:cTn id="2" fill="hold" nodeType="body">
                  <p:childTnLst>
                    <p:par>
                      <p:cTn id="3" presetID="2" presetClass="entr" presetSubtype="0" fill="hold" grpId="0" nodeType="clickEffect">
                        <p:stCondLst>
                          <p:cond delay="30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6" dur="500" fill="hold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presetID="2" presetClass="entr" presetSubtype="0" fill="hold" grpId="0" nodeType="clickEffect">
                        <p:stCondLst>
                          <p:cond delay="55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9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0" dur="500" fill="hold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presetID="2" presetClass="entr" presetSubtype="0" fill="hold" grpId="0" nodeType="clickEffect">
                        <p:stCondLst>
                          <p:cond delay="80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3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4" dur="500" fill="hold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presetID="2" presetClass="entr" presetSubtype="0" fill="hold" grpId="0" nodeType="clickEffect">
                        <p:stCondLst>
                          <p:cond delay="105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7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8" dur="500" fill="hold"/>
                                          <p:tgtEl>
                                            <p:spTgt spid="1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</p:par>
            </p:childTnLst>
          </p:cTn>
        </p:par>
      </p:tnLst>
    </p:timing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0C2FF"/>
              </a:gs>
              <a:gs pos="100000">
                <a:srgbClr val="00FFC8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914400"/>
            <a:ext cx="5943600" cy="5943600"/>
          </a:xfrm>
          <a:prstGeom prst="rect">
            <a:avLst/>
          </a:prstGeom>
          <a:solidFill>
            <a:srgbClr val="0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2FF"/>
                </a:solidFill>
                <a:latin typeface="Segoe UI"/>
              </a:rPr>
              <a:t>⬡ SOL Data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Stop Cleaning Manually.
Start Cleaning Intelligently.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FFC8"/>
                </a:solidFill>
                <a:latin typeface="Segoe UI"/>
              </a:rPr>
              <a:t>SOL Data Agent — your autonomous AI co-pilot for data quality.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160520"/>
            <a:ext cx="3200400" cy="685800"/>
          </a:xfrm>
          <a:prstGeom prst="rect">
            <a:avLst/>
          </a:prstGeom>
          <a:solidFill>
            <a:srgbClr val="00C2F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42062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B14"/>
                </a:solidFill>
                <a:latin typeface="Segoe UI"/>
              </a:rPr>
              <a:t>🚀  Get Started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4160520"/>
            <a:ext cx="3200400" cy="685800"/>
          </a:xfrm>
          <a:prstGeom prst="rect">
            <a:avLst/>
          </a:prstGeom>
          <a:noFill/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2FF"/>
                </a:solidFill>
                <a:latin typeface="Segoe UI"/>
              </a:rPr>
              <a:t>📩  Request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Segoe UI"/>
              </a:rPr>
              <a:t>&lt; 1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Segoe UI"/>
              </a:rPr>
              <a:t>Full dataset cleaned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Segoe UI"/>
              </a:rPr>
              <a:t>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Segoe UI"/>
              </a:rPr>
              <a:t>Bias-free AI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Segoe UI"/>
              </a:rPr>
              <a:t>7+ formats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Segoe UI"/>
              </a:rPr>
              <a:t>Universal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Segoe UI"/>
              </a:rPr>
              <a:t>4 phases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Segoe UI"/>
              </a:rPr>
              <a:t>Autonomous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745EFF"/>
              </a:gs>
              <a:gs pos="100000">
                <a:srgbClr val="00C2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C4DE"/>
                </a:solidFill>
                <a:latin typeface="Segoe UI"/>
              </a:rPr>
              <a:t>08 / 08</a:t>
            </a:r>
          </a:p>
        </p:txBody>
      </p:sp>
    </p:spTree>
    <p:timing>
      <p:tnLst>
        <p:par>
          <p:cTn id="1" dur="indefinite" restart="whenNotActive" nodeType="tmRoot">
            <p:childTnLst>
              <p:par>
                <p:cTn id="2" fill="hold" nodeType="body">
                  <p:childTnLst>
                    <p:par>
                      <p:cTn id="3" presetID="2" presetClass="entr" presetSubtype="0" fill="hold" grpId="0" nodeType="clickEffect">
                        <p:stCondLst>
                          <p:cond delay="30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6" dur="700" fill="hold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presetID="10" presetClass="entr" presetSubtype="0" fill="hold" grpId="0" nodeType="clickEffect">
                        <p:stCondLst>
                          <p:cond delay="80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9" presetID="10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ade" subtype="">
                                        <p:cBhvr>
                                          <p:cTn id="10" dur="500" fill="hold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presetID="2" presetClass="entr" presetSubtype="0" fill="hold" grpId="0" nodeType="clickEffect">
                        <p:stCondLst>
                          <p:cond delay="110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3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4" dur="400" fill="hold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presetID="2" presetClass="entr" presetSubtype="0" fill="hold" grpId="0" nodeType="clickEffect">
                        <p:stCondLst>
                          <p:cond delay="130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7" presetID="2" presetClass="entr" presetSubtype="0" fill="hold" grpId="0" nodeType="withEffect">
                                    <p:stCondLst>
                                      <p:cond delay="0"/>
                                    </p:stCondLst>
                                    <p:childTnLst>
                                      <p:animEffect transition="in" filter="fly" subtype="from-bottom">
                                        <p:cBhvr>
                                          <p:cTn id="18" dur="400" fill="hold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</p:par>
            </p:childTnLst>
          </p:cTn>
        </p:par>
      </p:tn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